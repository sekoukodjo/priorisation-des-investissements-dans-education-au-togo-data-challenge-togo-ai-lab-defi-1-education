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705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Accroche : la question du défi. Présenter l'outil comme une réponse opérationnelle, pas un exercice technique.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63A"/>
          </a:solidFill>
          <a:ln/>
        </p:spPr>
      </p:sp>
      <p:sp>
        <p:nvSpPr>
          <p:cNvPr id="4" name="Text 1"/>
          <p:cNvSpPr/>
          <p:nvPr/>
        </p:nvSpPr>
        <p:spPr>
          <a:xfrm>
            <a:off x="1097280" y="1783080"/>
            <a:ext cx="99943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INVESTIR PRIORITAIREMENT POUR UNE ÉDUCATION PLUS ÉQUITABLE AU TOGO ?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463040" y="3337560"/>
            <a:ext cx="9262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 Éducation Togo : Tableau de bord </a:t>
            </a:r>
            <a:r>
              <a:rPr lang="en-US" sz="1800" i="1" dirty="0" err="1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d'Aide</a:t>
            </a:r>
            <a:r>
              <a:rPr lang="en-US" sz="1800" i="1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la </a:t>
            </a:r>
            <a:r>
              <a:rPr lang="en-US" sz="1800" i="1" dirty="0" err="1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r>
              <a:rPr lang="en-US" sz="1800" i="1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717036" y="4343400"/>
            <a:ext cx="4754880" cy="566928"/>
          </a:xfrm>
          <a:prstGeom prst="roundRect">
            <a:avLst>
              <a:gd name="adj" fmla="val 50000"/>
            </a:avLst>
          </a:prstGeom>
          <a:solidFill>
            <a:srgbClr val="006A4E"/>
          </a:solidFill>
          <a:ln/>
        </p:spPr>
      </p:sp>
      <p:sp>
        <p:nvSpPr>
          <p:cNvPr id="7" name="Text 4"/>
          <p:cNvSpPr/>
          <p:nvPr/>
        </p:nvSpPr>
        <p:spPr>
          <a:xfrm>
            <a:off x="3717036" y="43434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Challenge Éducation — Défi 1 · Togo AI Lab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5806440"/>
            <a:ext cx="9262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FE8DD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Calibri" pitchFamily="34" charset="-120"/>
              </a:rPr>
              <a:t>5 régions   ·   39 préfectures   ·   117 communes analysées</a:t>
            </a:r>
            <a:endParaRPr 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6B1273F-CC51-4B71-A229-B76ED4F60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3997"/>
            <a:ext cx="12192000" cy="11747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question du défi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quatre dimensions du système éducatif pour identifier les territoires prioritaires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décideurs doivent arbitrer des ressources limitées. L'outil répond à trois questions : où sont les besoins les plus urgents ? pourquoi ? quels investissements auront le plus d'impact 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15184" cy="3200400"/>
          </a:xfrm>
          <a:prstGeom prst="roundRect">
            <a:avLst>
              <a:gd name="adj" fmla="val 4196"/>
            </a:avLst>
          </a:prstGeom>
          <a:solidFill>
            <a:srgbClr val="F2F7F4"/>
          </a:solidFill>
          <a:ln/>
          <a:effectLst>
            <a:outerShdw blurRad="76200" dist="25400" dir="5400000" algn="bl" rotWithShape="0">
              <a:srgbClr val="9AB5A9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44752" y="2743200"/>
            <a:ext cx="822960" cy="822960"/>
          </a:xfrm>
          <a:prstGeom prst="ellipse">
            <a:avLst/>
          </a:prstGeom>
          <a:solidFill>
            <a:srgbClr val="006A4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262" y="294071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749040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scolaire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49808" y="4434840"/>
            <a:ext cx="22128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Densité d'établissements, complétude du cycle, offre préscolaire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92424" y="2377440"/>
            <a:ext cx="2615184" cy="3200400"/>
          </a:xfrm>
          <a:prstGeom prst="roundRect">
            <a:avLst>
              <a:gd name="adj" fmla="val 4196"/>
            </a:avLst>
          </a:prstGeom>
          <a:solidFill>
            <a:srgbClr val="F2F7F4"/>
          </a:solidFill>
          <a:ln/>
          <a:effectLst>
            <a:outerShdw blurRad="76200" dist="25400" dir="5400000" algn="bl" rotWithShape="0">
              <a:srgbClr val="9AB5A9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88536" y="2743200"/>
            <a:ext cx="822960" cy="822960"/>
          </a:xfrm>
          <a:prstGeom prst="ellipse">
            <a:avLst/>
          </a:prstGeom>
          <a:solidFill>
            <a:srgbClr val="0A8B6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046" y="294071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9584" y="3749040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Infrastructures essentielles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93592" y="4434840"/>
            <a:ext cx="22128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Toilettes, état du bâti, bibliothèques, terrains de sport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36208" y="2377440"/>
            <a:ext cx="2615184" cy="3200400"/>
          </a:xfrm>
          <a:prstGeom prst="roundRect">
            <a:avLst>
              <a:gd name="adj" fmla="val 4196"/>
            </a:avLst>
          </a:prstGeom>
          <a:solidFill>
            <a:srgbClr val="F2F7F4"/>
          </a:solidFill>
          <a:ln/>
          <a:effectLst>
            <a:outerShdw blurRad="76200" dist="25400" dir="5400000" algn="bl" rotWithShape="0">
              <a:srgbClr val="9AB5A9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32320" y="2743200"/>
            <a:ext cx="822960" cy="822960"/>
          </a:xfrm>
          <a:prstGeom prst="ellipse">
            <a:avLst/>
          </a:prstGeom>
          <a:solidFill>
            <a:srgbClr val="FFCE0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9830" y="294071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73368" y="3749040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enseignante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37376" y="4434840"/>
            <a:ext cx="22128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Effectifs du préscolaire, taux d'encadrement, zones sous-dotées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79992" y="2377440"/>
            <a:ext cx="2615184" cy="3200400"/>
          </a:xfrm>
          <a:prstGeom prst="roundRect">
            <a:avLst>
              <a:gd name="adj" fmla="val 4196"/>
            </a:avLst>
          </a:prstGeom>
          <a:solidFill>
            <a:srgbClr val="F2F7F4"/>
          </a:solidFill>
          <a:ln/>
          <a:effectLst>
            <a:outerShdw blurRad="76200" dist="25400" dir="5400000" algn="bl" rotWithShape="0">
              <a:srgbClr val="9AB5A9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976104" y="2743200"/>
            <a:ext cx="822960" cy="822960"/>
          </a:xfrm>
          <a:prstGeom prst="ellipse">
            <a:avLst/>
          </a:prstGeom>
          <a:solidFill>
            <a:srgbClr val="D21034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3614" y="2940710"/>
            <a:ext cx="427939" cy="42793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7152" y="3749040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scolaires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81160" y="4434840"/>
            <a:ext cx="22128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Réussite, scolarisation, achèvement + conditions de réussite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quatre dimensions alimentent automatiquement le module de Priorisation des investissements.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données mobilisées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des données ouvertes, fusionnées et nettoyées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2514600"/>
          </a:xfrm>
          <a:prstGeom prst="roundRect">
            <a:avLst>
              <a:gd name="adj" fmla="val 4364"/>
            </a:avLst>
          </a:prstGeom>
          <a:solidFill>
            <a:srgbClr val="F2F7F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006A4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19824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8366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geodata.gouv.tg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 scolaires géolocalisés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Toilettes et bâtiments scolaires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Terrains de sport, crèches, bibliothèques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70832" y="1554480"/>
            <a:ext cx="3611880" cy="2514600"/>
          </a:xfrm>
          <a:prstGeom prst="roundRect">
            <a:avLst>
              <a:gd name="adj" fmla="val 4364"/>
            </a:avLst>
          </a:prstGeom>
          <a:solidFill>
            <a:srgbClr val="F2F7F4"/>
          </a:solidFill>
          <a:ln/>
        </p:spPr>
      </p:sp>
      <p:sp>
        <p:nvSpPr>
          <p:cNvPr id="10" name="Shape 7"/>
          <p:cNvSpPr/>
          <p:nvPr/>
        </p:nvSpPr>
        <p:spPr>
          <a:xfrm>
            <a:off x="4645152" y="1828800"/>
            <a:ext cx="640080" cy="640080"/>
          </a:xfrm>
          <a:prstGeom prst="ellipse">
            <a:avLst/>
          </a:prstGeom>
          <a:solidFill>
            <a:srgbClr val="006A4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771" y="19824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2392" y="188366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opendata.gouv.tg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45152" y="26060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Enseignants du préscolaire par inspection (2021-2022)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scolaires nationaux (séries 2013-2022)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93024" y="1554480"/>
            <a:ext cx="3611880" cy="2514600"/>
          </a:xfrm>
          <a:prstGeom prst="roundRect">
            <a:avLst>
              <a:gd name="adj" fmla="val 4364"/>
            </a:avLst>
          </a:prstGeom>
          <a:solidFill>
            <a:srgbClr val="F2F7F4"/>
          </a:solidFill>
          <a:ln/>
        </p:spPr>
      </p:sp>
      <p:sp>
        <p:nvSpPr>
          <p:cNvPr id="15" name="Shape 11"/>
          <p:cNvSpPr/>
          <p:nvPr/>
        </p:nvSpPr>
        <p:spPr>
          <a:xfrm>
            <a:off x="8467344" y="1828800"/>
            <a:ext cx="640080" cy="640080"/>
          </a:xfrm>
          <a:prstGeom prst="ellipse">
            <a:avLst/>
          </a:prstGeom>
          <a:solidFill>
            <a:srgbClr val="006A4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0963" y="198241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44584" y="188366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UNESCO-ISU &amp; geoBoundaries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67344" y="26060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Électrification des écoles, ratio élèves/enseignant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Frontières administratives officielles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4434840"/>
            <a:ext cx="26151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6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15 454</a:t>
            </a:r>
            <a:endParaRPr lang="en-US" sz="4000" dirty="0"/>
          </a:p>
        </p:txBody>
      </p:sp>
      <p:sp>
        <p:nvSpPr>
          <p:cNvPr id="20" name="Text 15"/>
          <p:cNvSpPr/>
          <p:nvPr/>
        </p:nvSpPr>
        <p:spPr>
          <a:xfrm>
            <a:off x="548640" y="521208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 géolocalisés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392424" y="4434840"/>
            <a:ext cx="26151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6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28 055</a:t>
            </a:r>
            <a:endParaRPr lang="en-US" sz="4000" dirty="0"/>
          </a:p>
        </p:txBody>
      </p:sp>
      <p:sp>
        <p:nvSpPr>
          <p:cNvPr id="22" name="Text 17"/>
          <p:cNvSpPr/>
          <p:nvPr/>
        </p:nvSpPr>
        <p:spPr>
          <a:xfrm>
            <a:off x="3392424" y="521208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bâtiments scolaires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236208" y="4434840"/>
            <a:ext cx="26151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6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10 228</a:t>
            </a:r>
            <a:endParaRPr lang="en-US" sz="4000" dirty="0"/>
          </a:p>
        </p:txBody>
      </p:sp>
      <p:sp>
        <p:nvSpPr>
          <p:cNvPr id="24" name="Text 19"/>
          <p:cNvSpPr/>
          <p:nvPr/>
        </p:nvSpPr>
        <p:spPr>
          <a:xfrm>
            <a:off x="6236208" y="521208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de toilettes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9079992" y="4434840"/>
            <a:ext cx="26151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6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7 802</a:t>
            </a:r>
            <a:endParaRPr lang="en-US" sz="4000" dirty="0"/>
          </a:p>
        </p:txBody>
      </p:sp>
      <p:sp>
        <p:nvSpPr>
          <p:cNvPr id="26" name="Text 21"/>
          <p:cNvSpPr/>
          <p:nvPr/>
        </p:nvSpPr>
        <p:spPr>
          <a:xfrm>
            <a:off x="9079992" y="521208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enseignants du préscolaire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architecture pensée pour la décision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calcul en amont — le tableau de bord ne calcule rien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2240280"/>
          </a:xfrm>
          <a:prstGeom prst="roundRect">
            <a:avLst>
              <a:gd name="adj" fmla="val 4898"/>
            </a:avLst>
          </a:prstGeom>
          <a:solidFill>
            <a:srgbClr val="F2F7F4"/>
          </a:solidFill>
          <a:ln/>
        </p:spPr>
      </p:sp>
      <p:sp>
        <p:nvSpPr>
          <p:cNvPr id="5" name="Shape 3"/>
          <p:cNvSpPr/>
          <p:nvPr/>
        </p:nvSpPr>
        <p:spPr>
          <a:xfrm>
            <a:off x="1458468" y="1856232"/>
            <a:ext cx="694944" cy="694944"/>
          </a:xfrm>
          <a:prstGeom prst="ellipse">
            <a:avLst/>
          </a:prstGeom>
          <a:solidFill>
            <a:srgbClr val="006A4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255" y="2023019"/>
            <a:ext cx="361371" cy="3613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243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brutes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13232" y="3063240"/>
            <a:ext cx="21854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et shapefiles d'origine, jamais modifiés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81528" y="24688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3566160" y="1600200"/>
            <a:ext cx="2514600" cy="2240280"/>
          </a:xfrm>
          <a:prstGeom prst="roundRect">
            <a:avLst>
              <a:gd name="adj" fmla="val 4898"/>
            </a:avLst>
          </a:prstGeom>
          <a:solidFill>
            <a:srgbClr val="F2F7F4"/>
          </a:solidFill>
          <a:ln/>
        </p:spPr>
      </p:sp>
      <p:sp>
        <p:nvSpPr>
          <p:cNvPr id="11" name="Shape 8"/>
          <p:cNvSpPr/>
          <p:nvPr/>
        </p:nvSpPr>
        <p:spPr>
          <a:xfrm>
            <a:off x="4475988" y="1856232"/>
            <a:ext cx="694944" cy="694944"/>
          </a:xfrm>
          <a:prstGeom prst="ellipse">
            <a:avLst/>
          </a:prstGeom>
          <a:solidFill>
            <a:srgbClr val="006A4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2775" y="2023019"/>
            <a:ext cx="361371" cy="36137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26243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0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</a:t>
            </a:r>
            <a:r>
              <a:rPr lang="en-US" sz="1500" b="1" dirty="0">
                <a:solidFill>
                  <a:srgbClr val="0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python et 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730752" y="3063240"/>
            <a:ext cx="21854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· fusion · indicateurs · ACP · classification · ISPE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099048" y="24688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6583680" y="1600200"/>
            <a:ext cx="2514600" cy="2240280"/>
          </a:xfrm>
          <a:prstGeom prst="roundRect">
            <a:avLst>
              <a:gd name="adj" fmla="val 4898"/>
            </a:avLst>
          </a:prstGeom>
          <a:solidFill>
            <a:srgbClr val="006A4E"/>
          </a:solidFill>
          <a:ln/>
        </p:spPr>
      </p:sp>
      <p:sp>
        <p:nvSpPr>
          <p:cNvPr id="17" name="Shape 13"/>
          <p:cNvSpPr/>
          <p:nvPr/>
        </p:nvSpPr>
        <p:spPr>
          <a:xfrm>
            <a:off x="7493508" y="1856232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0295" y="2023019"/>
            <a:ext cx="361371" cy="36137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75120" y="26243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.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csv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748272" y="3063240"/>
            <a:ext cx="21854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F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fichiers de résultats prêts à l'emploi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9116568" y="24688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2" name="Shape 17"/>
          <p:cNvSpPr/>
          <p:nvPr/>
        </p:nvSpPr>
        <p:spPr>
          <a:xfrm>
            <a:off x="9601200" y="1600200"/>
            <a:ext cx="2514600" cy="2240280"/>
          </a:xfrm>
          <a:prstGeom prst="roundRect">
            <a:avLst>
              <a:gd name="adj" fmla="val 4898"/>
            </a:avLst>
          </a:prstGeom>
          <a:solidFill>
            <a:srgbClr val="F2F7F4"/>
          </a:solidFill>
          <a:ln/>
        </p:spPr>
      </p:sp>
      <p:sp>
        <p:nvSpPr>
          <p:cNvPr id="23" name="Shape 18"/>
          <p:cNvSpPr/>
          <p:nvPr/>
        </p:nvSpPr>
        <p:spPr>
          <a:xfrm>
            <a:off x="10511028" y="1856232"/>
            <a:ext cx="694944" cy="694944"/>
          </a:xfrm>
          <a:prstGeom prst="ellipse">
            <a:avLst/>
          </a:prstGeom>
          <a:solidFill>
            <a:srgbClr val="006A4E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7815" y="2023019"/>
            <a:ext cx="361371" cy="36137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692640" y="26243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Shiny for python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765792" y="3063240"/>
            <a:ext cx="21854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seule : cartes, classements, recommandations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48640" y="4206240"/>
            <a:ext cx="11091672" cy="2148840"/>
          </a:xfrm>
          <a:prstGeom prst="roundRect">
            <a:avLst>
              <a:gd name="adj" fmla="val 5106"/>
            </a:avLst>
          </a:prstGeom>
          <a:solidFill>
            <a:srgbClr val="00463A"/>
          </a:solidFill>
          <a:ln/>
        </p:spPr>
      </p:sp>
      <p:sp>
        <p:nvSpPr>
          <p:cNvPr id="28" name="Text 22"/>
          <p:cNvSpPr/>
          <p:nvPr/>
        </p:nvSpPr>
        <p:spPr>
          <a:xfrm>
            <a:off x="914400" y="4434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 format .rds ?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914400" y="489204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Fidélité : restitue les objets R à l'identique, y compris les cartes (polygones sf) — impossible en CSV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Rapidité : lecture binaire compressée en quelques millisecondes → tableau de bord instantané, hors ligne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dépendance : readRDS() est natif dans R — aucune base de données ni installation supplémentaire</a:t>
            </a:r>
            <a:endParaRPr lang="en-US" sz="1350" dirty="0"/>
          </a:p>
          <a:p>
            <a:pPr marL="342900" indent="-342900">
              <a:buSzPct val="100000"/>
              <a:buChar char="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: nouvelles données = relancer un seul script, l'application reflète tout sans changer de code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point GPS à l'indicateur territorial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réel : la commune de Wawa 1 (région des Plateaux)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777240" cy="777240"/>
          </a:xfrm>
          <a:prstGeom prst="ellipse">
            <a:avLst/>
          </a:prstGeom>
          <a:solidFill>
            <a:srgbClr val="006A4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38" y="169529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5270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Nettoyer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691640" y="1947672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des coordonnées (WKT), recodage des « Nsp », filtre sur l'emprise du Togo, déduplication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715768"/>
            <a:ext cx="777240" cy="777240"/>
          </a:xfrm>
          <a:prstGeom prst="ellipse">
            <a:avLst/>
          </a:prstGeom>
          <a:solidFill>
            <a:srgbClr val="0A8B64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8" y="2902306"/>
            <a:ext cx="404165" cy="4041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73405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Agréger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691640" y="315468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 établissements, 51 toilettes, 210 bâtiments comptés et croisés par commune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85800" y="3922776"/>
            <a:ext cx="777240" cy="777240"/>
          </a:xfrm>
          <a:prstGeom prst="ellipse">
            <a:avLst/>
          </a:prstGeom>
          <a:solidFill>
            <a:srgbClr val="FFCE00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338" y="4109314"/>
            <a:ext cx="404165" cy="4041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394106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Mesurer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691640" y="4361688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comparables : 32,4 étab./100 km², 100 % de complétude du cycle, 38 toilettes/100 étab.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85800" y="5129784"/>
            <a:ext cx="777240" cy="777240"/>
          </a:xfrm>
          <a:prstGeom prst="ellipse">
            <a:avLst/>
          </a:prstGeom>
          <a:solidFill>
            <a:srgbClr val="D21034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338" y="5316322"/>
            <a:ext cx="404165" cy="40416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91640" y="514807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Standardiser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691640" y="5568696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Z-scores écrêtés à ±2,5 pour neutraliser unités et valeurs extrêmes (ex. Lomé)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818120" y="1600200"/>
            <a:ext cx="3822192" cy="4480560"/>
          </a:xfrm>
          <a:prstGeom prst="roundRect">
            <a:avLst>
              <a:gd name="adj" fmla="val 2871"/>
            </a:avLst>
          </a:prstGeom>
          <a:solidFill>
            <a:srgbClr val="F2F7F4"/>
          </a:solidFill>
          <a:ln/>
        </p:spPr>
      </p:sp>
      <p:sp>
        <p:nvSpPr>
          <p:cNvPr id="21" name="Text 15"/>
          <p:cNvSpPr/>
          <p:nvPr/>
        </p:nvSpPr>
        <p:spPr>
          <a:xfrm>
            <a:off x="8092440" y="18288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pour Wawa 1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092440" y="2331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ISPE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092440" y="261518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76,6 / 100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8092440" y="32644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 national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8092440" y="354787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sur 117</a:t>
            </a:r>
            <a:endParaRPr lang="en-US" sz="1900" dirty="0"/>
          </a:p>
        </p:txBody>
      </p:sp>
      <p:sp>
        <p:nvSpPr>
          <p:cNvPr id="26" name="Text 20"/>
          <p:cNvSpPr/>
          <p:nvPr/>
        </p:nvSpPr>
        <p:spPr>
          <a:xfrm>
            <a:off x="8092440" y="419709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8092440" y="448056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21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prioritaire</a:t>
            </a:r>
            <a:endParaRPr lang="en-US" sz="1900" dirty="0"/>
          </a:p>
        </p:txBody>
      </p:sp>
      <p:sp>
        <p:nvSpPr>
          <p:cNvPr id="28" name="Text 22"/>
          <p:cNvSpPr/>
          <p:nvPr/>
        </p:nvSpPr>
        <p:spPr>
          <a:xfrm>
            <a:off x="8092440" y="512978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1re recommandation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8092440" y="541324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Recruter des enseignants et densifier l'offre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étape intermédiaire est exportée et vérifiable (classeur Excel joint au projet).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ACP et classification : les profils de territoires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méthodes éprouvées, entièrement en arrière-plan — l'utilisateur n'en voit que les résultats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4160520"/>
          </a:xfrm>
          <a:prstGeom prst="roundRect">
            <a:avLst>
              <a:gd name="adj" fmla="val 2637"/>
            </a:avLst>
          </a:prstGeom>
          <a:solidFill>
            <a:srgbClr val="F2F7F4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37360"/>
            <a:ext cx="685800" cy="685800"/>
          </a:xfrm>
          <a:prstGeom prst="ellipse">
            <a:avLst/>
          </a:prstGeom>
          <a:solidFill>
            <a:srgbClr val="006A4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90195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en Composantes Principales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</a:rPr>
              <a:t>10 indicateurs corrélés sont résumés en quelques grandes tendances indépendantes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</a:rPr>
              <a:t>5 composantes retenues (critère : 80 % d'information conservée)</a:t>
            </a:r>
            <a:endParaRPr lang="en-US" sz="1350" dirty="0"/>
          </a:p>
          <a:p>
            <a:pPr marL="342900" indent="-342900"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</a:rPr>
              <a:t>Chaque commune est résumée par 5 coordonnées au lieu de 10 valeurs redondantes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43891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6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85,4 %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3291840" y="449884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variance expliquée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les 5 composantes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1463040"/>
            <a:ext cx="5376672" cy="4160520"/>
          </a:xfrm>
          <a:prstGeom prst="roundRect">
            <a:avLst>
              <a:gd name="adj" fmla="val 2637"/>
            </a:avLst>
          </a:prstGeom>
          <a:solidFill>
            <a:srgbClr val="F2F7F4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0" y="1737360"/>
            <a:ext cx="685800" cy="685800"/>
          </a:xfrm>
          <a:prstGeom prst="ellipse">
            <a:avLst/>
          </a:prstGeom>
          <a:solidFill>
            <a:srgbClr val="D21034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1901952"/>
            <a:ext cx="356616" cy="3566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06640" y="17830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HCPC + K-means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83680" y="260604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</a:rPr>
              <a:t>Classification hiérarchique (critère de Ward) sur les composantes de l'ACP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</a:rPr>
              <a:t>Nombre de classes choisi par le saut d'inertie du dendrogramme</a:t>
            </a:r>
            <a:endParaRPr lang="en-US" sz="1350" dirty="0"/>
          </a:p>
          <a:p>
            <a:pPr marL="342900" indent="-342900"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</a:rPr>
              <a:t>Consolidation K-means : chaque territoire est réaffecté au profil le plus proche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583680" y="43891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2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profils</a:t>
            </a:r>
            <a:endParaRPr lang="en-US" sz="3800" dirty="0"/>
          </a:p>
        </p:txBody>
      </p:sp>
      <p:sp>
        <p:nvSpPr>
          <p:cNvPr id="17" name="Text 13"/>
          <p:cNvSpPr/>
          <p:nvPr/>
        </p:nvSpPr>
        <p:spPr>
          <a:xfrm>
            <a:off x="9464040" y="4498848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territoires homogènes,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étiquetés automatiquement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48640" y="58978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plan factoriel, aucune valeur propre, aucun dendrogramme à l'écran : uniquement des profils lisibles (« Priorité critique — déficits marqués en couverture scolaire »).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L'ISPE : un score unique pour classer les priorités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Synthétique de Priorité Éducative (0 à 100) — plus il est élevé, plus le territoire est prioritaire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ISPE = moyenne pondérée des déficits des 4 dimensions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scolaire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532888"/>
            <a:ext cx="4572000" cy="384048"/>
          </a:xfrm>
          <a:prstGeom prst="roundRect">
            <a:avLst>
              <a:gd name="adj" fmla="val 23810"/>
            </a:avLst>
          </a:prstGeom>
          <a:solidFill>
            <a:srgbClr val="006A4E"/>
          </a:solidFill>
          <a:ln/>
        </p:spPr>
      </p:sp>
      <p:sp>
        <p:nvSpPr>
          <p:cNvPr id="7" name="Text 5"/>
          <p:cNvSpPr/>
          <p:nvPr/>
        </p:nvSpPr>
        <p:spPr>
          <a:xfrm>
            <a:off x="5285232" y="25146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0815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Infrastructures essentielles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465576"/>
            <a:ext cx="4572000" cy="384048"/>
          </a:xfrm>
          <a:prstGeom prst="roundRect">
            <a:avLst>
              <a:gd name="adj" fmla="val 23810"/>
            </a:avLst>
          </a:prstGeom>
          <a:solidFill>
            <a:srgbClr val="0A8B64"/>
          </a:solidFill>
          <a:ln/>
        </p:spPr>
      </p:sp>
      <p:sp>
        <p:nvSpPr>
          <p:cNvPr id="10" name="Text 8"/>
          <p:cNvSpPr/>
          <p:nvPr/>
        </p:nvSpPr>
        <p:spPr>
          <a:xfrm>
            <a:off x="5285232" y="344728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8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01421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enseignante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398264"/>
            <a:ext cx="3810000" cy="384048"/>
          </a:xfrm>
          <a:prstGeom prst="roundRect">
            <a:avLst>
              <a:gd name="adj" fmla="val 23810"/>
            </a:avLst>
          </a:prstGeom>
          <a:solidFill>
            <a:srgbClr val="FFC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23232" y="437997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94690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de réussite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5330952"/>
            <a:ext cx="2286000" cy="384048"/>
          </a:xfrm>
          <a:prstGeom prst="roundRect">
            <a:avLst>
              <a:gd name="adj" fmla="val 23810"/>
            </a:avLst>
          </a:prstGeom>
          <a:solidFill>
            <a:srgbClr val="D21034"/>
          </a:solidFill>
          <a:ln/>
        </p:spPr>
      </p:sp>
      <p:sp>
        <p:nvSpPr>
          <p:cNvPr id="16" name="Text 14"/>
          <p:cNvSpPr/>
          <p:nvPr/>
        </p:nvSpPr>
        <p:spPr>
          <a:xfrm>
            <a:off x="2999232" y="531266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1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59436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déficit de chaque dimension est mesuré sur 0-100 : 0 = territoire le mieux doté du pays, 100 = le plus démuni.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35240" y="1508760"/>
            <a:ext cx="4005072" cy="4846320"/>
          </a:xfrm>
          <a:prstGeom prst="roundRect">
            <a:avLst>
              <a:gd name="adj" fmla="val 2740"/>
            </a:avLst>
          </a:prstGeom>
          <a:solidFill>
            <a:srgbClr val="F2F7F4"/>
          </a:solidFill>
          <a:ln/>
        </p:spPr>
      </p:sp>
      <p:sp>
        <p:nvSpPr>
          <p:cNvPr id="19" name="Text 17"/>
          <p:cNvSpPr/>
          <p:nvPr/>
        </p:nvSpPr>
        <p:spPr>
          <a:xfrm>
            <a:off x="7909560" y="1737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niveaux de priorité (quintiles)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909560" y="2286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62828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0" y="22860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prioritaire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909560" y="3063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65100"/>
          </a:solidFill>
          <a:ln/>
        </p:spPr>
      </p:sp>
      <p:sp>
        <p:nvSpPr>
          <p:cNvPr id="23" name="Text 21"/>
          <p:cNvSpPr/>
          <p:nvPr/>
        </p:nvSpPr>
        <p:spPr>
          <a:xfrm>
            <a:off x="8595360" y="3063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Prioritaire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909560" y="3840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9A825"/>
          </a:solidFill>
          <a:ln/>
        </p:spPr>
      </p:sp>
      <p:sp>
        <p:nvSpPr>
          <p:cNvPr id="25" name="Text 23"/>
          <p:cNvSpPr/>
          <p:nvPr/>
        </p:nvSpPr>
        <p:spPr>
          <a:xfrm>
            <a:off x="8595360" y="3840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surveiller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909560" y="4617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7CB342"/>
          </a:solidFill>
          <a:ln/>
        </p:spPr>
      </p:sp>
      <p:sp>
        <p:nvSpPr>
          <p:cNvPr id="27" name="Text 25"/>
          <p:cNvSpPr/>
          <p:nvPr/>
        </p:nvSpPr>
        <p:spPr>
          <a:xfrm>
            <a:off x="8595360" y="46177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Modéré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909560" y="53949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E7D32"/>
          </a:solidFill>
          <a:ln/>
        </p:spPr>
      </p:sp>
      <p:sp>
        <p:nvSpPr>
          <p:cNvPr id="29" name="Text 27"/>
          <p:cNvSpPr/>
          <p:nvPr/>
        </p:nvSpPr>
        <p:spPr>
          <a:xfrm>
            <a:off x="8595360" y="53949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Satisfaisant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tableau de bord : simple, rapide, sans jargon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371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onglets seulement :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006A4E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1995221"/>
            <a:ext cx="261518" cy="261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18745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— chiffres clés, carte nationale, Top 10, rapport PDF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48640" y="2679192"/>
            <a:ext cx="502920" cy="502920"/>
          </a:xfrm>
          <a:prstGeom prst="ellipse">
            <a:avLst/>
          </a:prstGeom>
          <a:solidFill>
            <a:srgbClr val="006A4E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2799893"/>
            <a:ext cx="261518" cy="261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2679192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scolaire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548640" y="3483864"/>
            <a:ext cx="502920" cy="502920"/>
          </a:xfrm>
          <a:prstGeom prst="ellipse">
            <a:avLst/>
          </a:prstGeom>
          <a:solidFill>
            <a:srgbClr val="006A4E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1" y="3604565"/>
            <a:ext cx="261518" cy="261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8720" y="3483864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Infrastructures essentielles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548640" y="4288536"/>
            <a:ext cx="502920" cy="502920"/>
          </a:xfrm>
          <a:prstGeom prst="ellipse">
            <a:avLst/>
          </a:prstGeom>
          <a:solidFill>
            <a:srgbClr val="006A4E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1" y="4409237"/>
            <a:ext cx="261518" cy="261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88720" y="4288536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enseignante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548640" y="5093208"/>
            <a:ext cx="502920" cy="502920"/>
          </a:xfrm>
          <a:prstGeom prst="ellipse">
            <a:avLst/>
          </a:prstGeom>
          <a:solidFill>
            <a:srgbClr val="006A4E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341" y="5213909"/>
            <a:ext cx="261518" cy="26151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88720" y="5093208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 des investissements (module central)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548640" y="58064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page : indicateurs, carte interactive (zoom, recherche, filtres), comparaison de territoires et exports (PNG, PDF, JPEG, Excel, CSV).</a:t>
            </a:r>
            <a:endParaRPr lang="en-US" sz="1300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46BFD4B1-5234-446D-873E-4D7DDCD2C3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1436" y="1197864"/>
            <a:ext cx="7590739" cy="46085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555"/>
            <a:ext cx="11091672" cy="9051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00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cœur du Dashboard : la priorisation des </a:t>
            </a:r>
            <a:r>
              <a:rPr lang="en-US" sz="3000" b="1" dirty="0" err="1">
                <a:solidFill>
                  <a:srgbClr val="00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investissements</a:t>
            </a:r>
            <a:r>
              <a:rPr lang="en-US" sz="3000" b="1" dirty="0">
                <a:solidFill>
                  <a:srgbClr val="00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>
                <a:solidFill>
                  <a:srgbClr val="00463A"/>
                </a:solidFill>
                <a:latin typeface="Calibri" pitchFamily="34" charset="0"/>
                <a:cs typeface="Calibri" pitchFamily="34" charset="-120"/>
              </a:rPr>
              <a:t>Simulation des politiques </a:t>
            </a:r>
            <a:r>
              <a:rPr lang="en-US" sz="3200" b="1" dirty="0" err="1">
                <a:solidFill>
                  <a:srgbClr val="00463A"/>
                </a:solidFill>
                <a:latin typeface="Calibri" pitchFamily="34" charset="0"/>
                <a:cs typeface="Calibri" pitchFamily="34" charset="-120"/>
              </a:rPr>
              <a:t>publiques</a:t>
            </a:r>
            <a:endParaRPr lang="en-US" sz="3200" dirty="0"/>
          </a:p>
          <a:p>
            <a:pPr marL="0" indent="0">
              <a:buNone/>
            </a:pP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8321040" y="1371600"/>
            <a:ext cx="603504" cy="603504"/>
          </a:xfrm>
          <a:prstGeom prst="ellipse">
            <a:avLst/>
          </a:prstGeom>
          <a:solidFill>
            <a:srgbClr val="006A4E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5881" y="1516441"/>
            <a:ext cx="313822" cy="31382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098280" y="13716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nationale des priorités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9098280" y="18745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niveaux, du rouge (très prioritaire) au vert (satisfaisant)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8321040" y="2852928"/>
            <a:ext cx="603504" cy="603504"/>
          </a:xfrm>
          <a:prstGeom prst="ellipse">
            <a:avLst/>
          </a:prstGeom>
          <a:solidFill>
            <a:srgbClr val="006A4E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5881" y="2997769"/>
            <a:ext cx="313822" cy="31382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98280" y="285292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national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9098280" y="3355848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territoire a son score ISPE et son rang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8321040" y="4334256"/>
            <a:ext cx="603504" cy="603504"/>
          </a:xfrm>
          <a:prstGeom prst="ellipse">
            <a:avLst/>
          </a:prstGeom>
          <a:solidFill>
            <a:srgbClr val="006A4E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0586" y="4479096"/>
            <a:ext cx="389117" cy="38911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098280" y="4334256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00463A"/>
                </a:solidFill>
                <a:latin typeface="Calibri" pitchFamily="34" charset="0"/>
                <a:cs typeface="Calibri" pitchFamily="34" charset="-120"/>
              </a:rPr>
              <a:t>Simulateur</a:t>
            </a:r>
            <a:r>
              <a:rPr lang="en-US" sz="1350" b="1" dirty="0">
                <a:solidFill>
                  <a:srgbClr val="00463A"/>
                </a:solidFill>
                <a:latin typeface="Calibri" pitchFamily="34" charset="0"/>
                <a:cs typeface="Calibri" pitchFamily="34" charset="-120"/>
              </a:rPr>
              <a:t> des politiques </a:t>
            </a:r>
            <a:r>
              <a:rPr lang="en-US" sz="1350" b="1" dirty="0" err="1">
                <a:solidFill>
                  <a:srgbClr val="00463A"/>
                </a:solidFill>
                <a:latin typeface="Calibri" pitchFamily="34" charset="0"/>
                <a:cs typeface="Calibri" pitchFamily="34" charset="-120"/>
              </a:rPr>
              <a:t>publiques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9098280" y="4837176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 → préfecture → commune, </a:t>
            </a:r>
            <a:r>
              <a:rPr lang="en-US" sz="1150" dirty="0" err="1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instantanée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548640" y="640080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21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communes classées « Très prioritaires » — dont Wawa 1 et 2, Lacs 2, Haho 3 et Danyi 1 et 2.</a:t>
            </a:r>
            <a:endParaRPr lang="en-US" sz="1350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0D02A0B4-6B26-4EB8-99AC-E539AED43D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09" y="858892"/>
            <a:ext cx="7532852" cy="3073028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5B6F15F3-AF53-4B7E-BFD6-FF7998CE9A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109" y="3922775"/>
            <a:ext cx="7532852" cy="26426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Chaque territoire a sa fiche : expliquer, puis recommander</a:t>
            </a:r>
            <a:endParaRPr lang="en-US" sz="3000" dirty="0"/>
          </a:p>
        </p:txBody>
      </p:sp>
      <p:pic>
        <p:nvPicPr>
          <p:cNvPr id="3" name="Image 0" descr="/tmp/claude-0/-home-user-AKOMEA/5553e443-b13e-5e41-bbe3-6b5da6096d0f/scratchpad/ppt_fich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280160"/>
            <a:ext cx="7498080" cy="4215384"/>
          </a:xfrm>
          <a:prstGeom prst="rect">
            <a:avLst/>
          </a:prstGeom>
          <a:effectLst>
            <a:outerShdw blurRad="101600" dist="38100" dir="5400000" algn="bl" rotWithShape="0">
              <a:srgbClr val="666666">
                <a:alpha val="40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48640" y="1371600"/>
            <a:ext cx="566928" cy="566928"/>
          </a:xfrm>
          <a:prstGeom prst="ellipse">
            <a:avLst/>
          </a:prstGeom>
          <a:solidFill>
            <a:srgbClr val="006A4E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1507663"/>
            <a:ext cx="294803" cy="29480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8016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classement ?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280160" y="1773936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en langage clair : profil, points forts, insuffisances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48640" y="2542032"/>
            <a:ext cx="566928" cy="566928"/>
          </a:xfrm>
          <a:prstGeom prst="ellipse">
            <a:avLst/>
          </a:prstGeom>
          <a:solidFill>
            <a:srgbClr val="D21034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03" y="2678095"/>
            <a:ext cx="294803" cy="29480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25420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argumentées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1280160" y="294436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des écoles, recruter, électrifier, assainir… ordonnées par gravité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48640" y="3712464"/>
            <a:ext cx="566928" cy="566928"/>
          </a:xfrm>
          <a:prstGeom prst="ellipse">
            <a:avLst/>
          </a:prstGeom>
          <a:solidFill>
            <a:srgbClr val="006A4E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703" y="3848527"/>
            <a:ext cx="294803" cy="29480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371246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et confiance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1280160" y="411480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action a un impact attendu et un score de confiance justifié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548640" y="4882896"/>
            <a:ext cx="566928" cy="566928"/>
          </a:xfrm>
          <a:prstGeom prst="ellipse">
            <a:avLst/>
          </a:prstGeom>
          <a:solidFill>
            <a:srgbClr val="006A4E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703" y="5018959"/>
            <a:ext cx="294803" cy="29480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80160" y="488289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décisionnels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1280160" y="5285232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PDF, Excel, CSV, carte PNG du territoire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statistique reste en coulisses : le décideur lit des phrases, pas des coefficients.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disent les données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Premiers enseignements de l'analyse</a:t>
            </a:r>
            <a:endParaRPr lang="en-US" sz="1400" dirty="0"/>
          </a:p>
        </p:txBody>
      </p:sp>
      <p:pic>
        <p:nvPicPr>
          <p:cNvPr id="4" name="Image 0" descr="/tmp/claude-0/-home-user-AKOMEA/5553e443-b13e-5e41-bbe3-6b5da6096d0f/scratchpad/ppt_carte_n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814" y="-103031"/>
            <a:ext cx="2682025" cy="6869591"/>
          </a:xfrm>
          <a:prstGeom prst="rect">
            <a:avLst/>
          </a:prstGeom>
          <a:effectLst>
            <a:outerShdw blurRad="101600" dist="38100" dir="5400000" algn="bl" rotWithShape="0">
              <a:srgbClr val="666666">
                <a:alpha val="4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7985760" y="63779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nationale des priorités (export PNG de l'application)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D2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2788920" y="1527048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communes sur 117 appellent un investissement prioritaire ou très prioritaire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30175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C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81,8 %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2788920" y="3127248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réussite à l'examen de compétence au primaire (2022) —</a:t>
            </a:r>
            <a:r>
              <a:rPr lang="en-US" sz="13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28,7 % d'écoles primaires électrifiées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46177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6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2788920" y="4727448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de territoires guident des politiques différenciées : densifier ici, équiper là, recruter ailleurs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48640" y="617220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zones très prioritaires ne sont pas là où on les attend toujours : certaines communes des Plateaux et de la Maritime devancent des zones réputées plus enclavées.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4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97280" y="1554480"/>
            <a:ext cx="9994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données ouvertes aux décisions éclairées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1696212" y="274320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555" y="2927543"/>
            <a:ext cx="399410" cy="3994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7240" y="3657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?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868680" y="41148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F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 communes classées par un indice transparent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4439412" y="274320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755" y="2927543"/>
            <a:ext cx="399410" cy="3994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20440" y="3657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3611880" y="41148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F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classement est expliqué en langage clair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7182612" y="274320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955" y="2927543"/>
            <a:ext cx="399410" cy="39941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63640" y="3657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quoi ?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6355080" y="41148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F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recommandations argumentées, prêtes à l'arbitrage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9925812" y="274320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0155" y="2927543"/>
            <a:ext cx="399410" cy="39941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006840" y="3657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demain ?</a:t>
            </a:r>
            <a:endParaRPr lang="en-US" sz="1800" dirty="0"/>
          </a:p>
        </p:txBody>
      </p:sp>
      <p:sp>
        <p:nvSpPr>
          <p:cNvPr id="19" name="Text 12"/>
          <p:cNvSpPr/>
          <p:nvPr/>
        </p:nvSpPr>
        <p:spPr>
          <a:xfrm>
            <a:off x="9098280" y="41148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F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données = un script à relancer, rien d'autre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1463040" y="5212080"/>
            <a:ext cx="9262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Derrière chaque point sur la carte, il y a des élèves, des enseignants et des familles.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n'ont de valeur que si elles les servent.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1463040" y="6172200"/>
            <a:ext cx="9262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· Data Challenge Éducation — Défi 1 · Togo AI Lab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1203</Words>
  <Application>Microsoft Office PowerPoint</Application>
  <PresentationFormat>Grand écran</PresentationFormat>
  <Paragraphs>170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Yu Gothic UI Semibold</vt:lpstr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SAD Éducation Togo — Data Challenge Éducation Défi 1</dc:title>
  <dc:subject>PptxGenJS Presentation</dc:subject>
  <dc:creator>SAD Éducation Togo</dc:creator>
  <cp:lastModifiedBy>Maurice SEKOU</cp:lastModifiedBy>
  <cp:revision>7</cp:revision>
  <dcterms:created xsi:type="dcterms:W3CDTF">2026-07-19T15:47:34Z</dcterms:created>
  <dcterms:modified xsi:type="dcterms:W3CDTF">2026-07-20T16:08:29Z</dcterms:modified>
</cp:coreProperties>
</file>